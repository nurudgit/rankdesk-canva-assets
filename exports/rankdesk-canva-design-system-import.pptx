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ankdesk-rank-beacon-reve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9436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65960" y="77724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4ECFA0"/>
                </a:solidFill>
                <a:latin typeface="Syne"/>
              </a:rPr>
              <a:t>RankDesk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4F9F6"/>
                </a:solidFill>
                <a:latin typeface="Syne"/>
              </a:rPr>
              <a:t>Design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C2E3CF"/>
                </a:solidFill>
                <a:latin typeface="Aptos"/>
              </a:rPr>
              <a:t>Premium SEO Command Center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840480"/>
            <a:ext cx="6126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4F9F6"/>
                </a:solidFill>
                <a:latin typeface="Aptos"/>
              </a:rPr>
              <a:t>Direction A — Rank Beacon identity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9F6"/>
                </a:solidFill>
                <a:latin typeface="Aptos"/>
              </a:rPr>
              <a:t>Dark-first product UI for clear SEO decisions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4F9F6"/>
                </a:solidFill>
                <a:latin typeface="Aptos"/>
              </a:rPr>
              <a:t>Canva-importable foundations, components, and screen specs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960120"/>
            <a:ext cx="3337560" cy="4983480"/>
          </a:xfrm>
          <a:prstGeom prst="roundRect">
            <a:avLst/>
          </a:prstGeom>
          <a:solidFill>
            <a:srgbClr val="132B20"/>
          </a:solidFill>
          <a:ln w="12700">
            <a:solidFill>
              <a:srgbClr val="C2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3258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ECFA0"/>
                </a:solidFill>
                <a:latin typeface="Syne"/>
              </a:rPr>
              <a:t>Design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560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4F9F6"/>
                </a:solidFill>
                <a:latin typeface="Syne"/>
              </a:rPr>
              <a:t>Make SEO feel controlled, premium, and actionable: what changed, why it matters, and what to do next.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6E4F"/>
                </a:solidFill>
                <a:latin typeface="Aptos"/>
              </a:rPr>
              <a:t>01 / Brand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0C1A14"/>
                </a:solidFill>
                <a:latin typeface="Syne"/>
              </a:rPr>
              <a:t>Color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D5449"/>
                </a:solidFill>
                <a:latin typeface="Aptos"/>
              </a:rPr>
              <a:t>Forest = trust/control/growth. Ember = opportunity/urgency. Ink = premium command shell.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011680"/>
            <a:ext cx="1600200" cy="1005840"/>
          </a:xfrm>
          <a:prstGeom prst="rect">
            <a:avLst/>
          </a:prstGeom>
          <a:solidFill>
            <a:srgbClr val="03311F"/>
          </a:solidFill>
          <a:ln w="12700">
            <a:solidFill>
              <a:srgbClr val="D0E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127248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352B"/>
                </a:solidFill>
                <a:latin typeface="Aptos"/>
              </a:rPr>
              <a:t>Forest 900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383280"/>
            <a:ext cx="1737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7A9688"/>
                </a:solidFill>
                <a:latin typeface="Courier New"/>
              </a:rPr>
              <a:t>#03311F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2011680"/>
            <a:ext cx="1600200" cy="1005840"/>
          </a:xfrm>
          <a:prstGeom prst="rect">
            <a:avLst/>
          </a:prstGeom>
          <a:solidFill>
            <a:srgbClr val="0B6E4F"/>
          </a:solidFill>
          <a:ln w="12700">
            <a:solidFill>
              <a:srgbClr val="D0E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3127248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352B"/>
                </a:solidFill>
                <a:latin typeface="Aptos"/>
              </a:rPr>
              <a:t>Forest 700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3383280"/>
            <a:ext cx="1737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7A9688"/>
                </a:solidFill>
                <a:latin typeface="Courier New"/>
              </a:rPr>
              <a:t>#0B6E4F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2011680"/>
            <a:ext cx="1600200" cy="1005840"/>
          </a:xfrm>
          <a:prstGeom prst="rect">
            <a:avLst/>
          </a:prstGeom>
          <a:solidFill>
            <a:srgbClr val="4ECFA0"/>
          </a:solidFill>
          <a:ln w="12700">
            <a:solidFill>
              <a:srgbClr val="D0E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3127248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352B"/>
                </a:solidFill>
                <a:latin typeface="Aptos"/>
              </a:rPr>
              <a:t>Forest 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383280"/>
            <a:ext cx="1737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7A9688"/>
                </a:solidFill>
                <a:latin typeface="Courier New"/>
              </a:rPr>
              <a:t>#4ECFA0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2011680"/>
            <a:ext cx="1600200" cy="1005840"/>
          </a:xfrm>
          <a:prstGeom prst="rect">
            <a:avLst/>
          </a:prstGeom>
          <a:solidFill>
            <a:srgbClr val="E6F4EE"/>
          </a:solidFill>
          <a:ln w="12700">
            <a:solidFill>
              <a:srgbClr val="D0E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127248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352B"/>
                </a:solidFill>
                <a:latin typeface="Aptos"/>
              </a:rPr>
              <a:t>Forest 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383280"/>
            <a:ext cx="1737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7A9688"/>
                </a:solidFill>
                <a:latin typeface="Courier New"/>
              </a:rPr>
              <a:t>#E6F4EE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20" y="2011680"/>
            <a:ext cx="1600200" cy="1005840"/>
          </a:xfrm>
          <a:prstGeom prst="rect">
            <a:avLst/>
          </a:prstGeom>
          <a:solidFill>
            <a:srgbClr val="E8621A"/>
          </a:solidFill>
          <a:ln w="12700">
            <a:solidFill>
              <a:srgbClr val="D0E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3127248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352B"/>
                </a:solidFill>
                <a:latin typeface="Aptos"/>
              </a:rPr>
              <a:t>Ember 600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383280"/>
            <a:ext cx="1737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7A9688"/>
                </a:solidFill>
                <a:latin typeface="Courier New"/>
              </a:rPr>
              <a:t>#E8621A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95560" y="2011680"/>
            <a:ext cx="1600200" cy="1005840"/>
          </a:xfrm>
          <a:prstGeom prst="rect">
            <a:avLst/>
          </a:prstGeom>
          <a:solidFill>
            <a:srgbClr val="FDF0E9"/>
          </a:solidFill>
          <a:ln w="12700">
            <a:solidFill>
              <a:srgbClr val="D0E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95560" y="3127248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352B"/>
                </a:solidFill>
                <a:latin typeface="Aptos"/>
              </a:rPr>
              <a:t>Ember 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5560" y="3383280"/>
            <a:ext cx="1737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7A9688"/>
                </a:solidFill>
                <a:latin typeface="Courier New"/>
              </a:rPr>
              <a:t>#FDF0E9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3886200"/>
            <a:ext cx="1600200" cy="1005840"/>
          </a:xfrm>
          <a:prstGeom prst="rect">
            <a:avLst/>
          </a:prstGeom>
          <a:solidFill>
            <a:srgbClr val="0C1A14"/>
          </a:solidFill>
          <a:ln w="12700">
            <a:solidFill>
              <a:srgbClr val="D0E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001768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352B"/>
                </a:solidFill>
                <a:latin typeface="Aptos"/>
              </a:rPr>
              <a:t>Ink 950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257800"/>
            <a:ext cx="1737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7A9688"/>
                </a:solidFill>
                <a:latin typeface="Courier New"/>
              </a:rPr>
              <a:t>#0C1A14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14600" y="3886200"/>
            <a:ext cx="1600200" cy="1005840"/>
          </a:xfrm>
          <a:prstGeom prst="rect">
            <a:avLst/>
          </a:prstGeom>
          <a:solidFill>
            <a:srgbClr val="F8FCFA"/>
          </a:solidFill>
          <a:ln w="12700">
            <a:solidFill>
              <a:srgbClr val="D0E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5001768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352B"/>
                </a:solidFill>
                <a:latin typeface="Aptos"/>
              </a:rPr>
              <a:t>Cloud 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5257800"/>
            <a:ext cx="1737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7A9688"/>
                </a:solidFill>
                <a:latin typeface="Courier New"/>
              </a:rPr>
              <a:t>#F8FCFA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34840" y="3886200"/>
            <a:ext cx="1600200" cy="1005840"/>
          </a:xfrm>
          <a:prstGeom prst="rect">
            <a:avLst/>
          </a:prstGeom>
          <a:solidFill>
            <a:srgbClr val="D0E5D9"/>
          </a:solidFill>
          <a:ln w="12700">
            <a:solidFill>
              <a:srgbClr val="D0E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5001768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352B"/>
                </a:solidFill>
                <a:latin typeface="Aptos"/>
              </a:rPr>
              <a:t>Mist 300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5257800"/>
            <a:ext cx="1737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7A9688"/>
                </a:solidFill>
                <a:latin typeface="Courier New"/>
              </a:rPr>
              <a:t>#D0E5D9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5080" y="3886200"/>
            <a:ext cx="1600200" cy="1005840"/>
          </a:xfrm>
          <a:prstGeom prst="rect">
            <a:avLst/>
          </a:prstGeom>
          <a:solidFill>
            <a:srgbClr val="07120D"/>
          </a:solidFill>
          <a:ln w="12700">
            <a:solidFill>
              <a:srgbClr val="D0E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5001768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352B"/>
                </a:solidFill>
                <a:latin typeface="Aptos"/>
              </a:rPr>
              <a:t>Dark BG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5257800"/>
            <a:ext cx="1737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7A9688"/>
                </a:solidFill>
                <a:latin typeface="Courier New"/>
              </a:rPr>
              <a:t>#07120D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75320" y="3886200"/>
            <a:ext cx="1600200" cy="1005840"/>
          </a:xfrm>
          <a:prstGeom prst="rect">
            <a:avLst/>
          </a:prstGeom>
          <a:solidFill>
            <a:srgbClr val="0F2118"/>
          </a:solidFill>
          <a:ln w="12700">
            <a:solidFill>
              <a:srgbClr val="D0E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20" y="5001768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352B"/>
                </a:solidFill>
                <a:latin typeface="Aptos"/>
              </a:rPr>
              <a:t>Panel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5257800"/>
            <a:ext cx="1737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7A9688"/>
                </a:solidFill>
                <a:latin typeface="Courier New"/>
              </a:rPr>
              <a:t>#0F2118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195560" y="3886200"/>
            <a:ext cx="1600200" cy="1005840"/>
          </a:xfrm>
          <a:prstGeom prst="rect">
            <a:avLst/>
          </a:prstGeom>
          <a:solidFill>
            <a:srgbClr val="132B20"/>
          </a:solidFill>
          <a:ln w="12700">
            <a:solidFill>
              <a:srgbClr val="D0E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95560" y="5001768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352B"/>
                </a:solidFill>
                <a:latin typeface="Aptos"/>
              </a:rPr>
              <a:t>Card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95560" y="5257800"/>
            <a:ext cx="1737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7A9688"/>
                </a:solidFill>
                <a:latin typeface="Courier New"/>
              </a:rPr>
              <a:t>#132B20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6E4F"/>
                </a:solidFill>
                <a:latin typeface="Aptos"/>
              </a:rPr>
              <a:t>02 / Typography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C1A14"/>
                </a:solidFill>
                <a:latin typeface="Syne"/>
              </a:rPr>
              <a:t>Syne + Onest + JetBrains Mono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07899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6E4F"/>
                </a:solidFill>
                <a:latin typeface="Syne"/>
              </a:rPr>
              <a:t>Syne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201168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7A9688"/>
                </a:solidFill>
                <a:latin typeface="Aptos"/>
              </a:rPr>
              <a:t>Display / headings / metrics / wordmark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975104"/>
            <a:ext cx="4572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C1A14"/>
                </a:solidFill>
                <a:latin typeface="Syne"/>
              </a:rPr>
              <a:t>RankDesk turns SEO noise into next actions.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154680"/>
            <a:ext cx="107899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33756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6E4F"/>
                </a:solidFill>
                <a:latin typeface="Syne"/>
              </a:rPr>
              <a:t>Onest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333756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7A9688"/>
                </a:solidFill>
                <a:latin typeface="Aptos"/>
              </a:rPr>
              <a:t>Body copy / navigation / 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300984"/>
            <a:ext cx="4572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C1A14"/>
                </a:solidFill>
                <a:latin typeface="Aptos"/>
              </a:rPr>
              <a:t>Readable product UI for founders, teams, and agencies.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480560"/>
            <a:ext cx="107899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663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B6E4F"/>
                </a:solidFill>
                <a:latin typeface="Syne"/>
              </a:rPr>
              <a:t>JetBrains Mono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466344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7A9688"/>
                </a:solidFill>
                <a:latin typeface="Aptos"/>
              </a:rPr>
              <a:t>Ranks / URLs / keyboard hints / deltas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626864"/>
            <a:ext cx="4572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C1A14"/>
                </a:solidFill>
                <a:latin typeface="JetBrains Mono"/>
              </a:rPr>
              <a:t>#04  +12  /pricing/seo-audit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ECFA0"/>
                </a:solidFill>
                <a:latin typeface="Aptos"/>
              </a:rPr>
              <a:t>03 / Logo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7315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4F9F6"/>
                </a:solidFill>
                <a:latin typeface="Syne"/>
              </a:rPr>
              <a:t>Rank Beacon is the primary route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5331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C2E3CF"/>
                </a:solidFill>
                <a:latin typeface="Aptos"/>
              </a:rPr>
              <a:t>Signal + ranking movement + command-center window + subtle 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3246120" cy="1417320"/>
          </a:xfrm>
          <a:prstGeom prst="roundRect">
            <a:avLst/>
          </a:prstGeom>
          <a:solidFill>
            <a:srgbClr val="132B20"/>
          </a:solidFill>
          <a:ln w="12700">
            <a:solidFill>
              <a:srgbClr val="C2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ankdesk-rank-beacon-posi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221992"/>
            <a:ext cx="1325880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468880" y="2496312"/>
            <a:ext cx="1188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F9F6"/>
                </a:solidFill>
                <a:latin typeface="Aptos"/>
              </a:rPr>
              <a:t>Primary positive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8803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A8C4B5"/>
                </a:solidFill>
                <a:latin typeface="Aptos"/>
              </a:rPr>
              <a:t>Rank Beacon Positive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057400"/>
            <a:ext cx="3246120" cy="1417320"/>
          </a:xfrm>
          <a:prstGeom prst="roundRect">
            <a:avLst/>
          </a:prstGeom>
          <a:solidFill>
            <a:srgbClr val="132B20"/>
          </a:solidFill>
          <a:ln w="12700">
            <a:solidFill>
              <a:srgbClr val="C2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ankdesk-rank-beacon-rever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599" y="2221992"/>
            <a:ext cx="1325880" cy="1325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19" y="2496312"/>
            <a:ext cx="1188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F9F6"/>
                </a:solidFill>
                <a:latin typeface="Aptos"/>
              </a:rPr>
              <a:t>Primary reverse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19" y="28803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A8C4B5"/>
                </a:solidFill>
                <a:latin typeface="Aptos"/>
              </a:rPr>
              <a:t>Rank Beacon Reverse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057400"/>
            <a:ext cx="3246120" cy="1417320"/>
          </a:xfrm>
          <a:prstGeom prst="roundRect">
            <a:avLst/>
          </a:prstGeom>
          <a:solidFill>
            <a:srgbClr val="132B20"/>
          </a:solidFill>
          <a:ln w="12700">
            <a:solidFill>
              <a:srgbClr val="C2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rankdesk-wordmark-lock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2221992"/>
            <a:ext cx="1325880" cy="3237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966960" y="2496312"/>
            <a:ext cx="1188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F9F6"/>
                </a:solidFill>
                <a:latin typeface="Aptos"/>
              </a:rPr>
              <a:t>Wordmark lockup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28803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A8C4B5"/>
                </a:solidFill>
                <a:latin typeface="Aptos"/>
              </a:rPr>
              <a:t>Wordmark Lockup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114800"/>
            <a:ext cx="3246120" cy="1417320"/>
          </a:xfrm>
          <a:prstGeom prst="roundRect">
            <a:avLst/>
          </a:prstGeom>
          <a:solidFill>
            <a:srgbClr val="132B20"/>
          </a:solidFill>
          <a:ln w="12700">
            <a:solidFill>
              <a:srgbClr val="C2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rankdesk-signal-matri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279392"/>
            <a:ext cx="1325880" cy="13258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468880" y="4553712"/>
            <a:ext cx="1188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F9F6"/>
                </a:solidFill>
                <a:latin typeface="Aptos"/>
              </a:rPr>
              <a:t>Alternate concept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49377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A8C4B5"/>
                </a:solidFill>
                <a:latin typeface="Aptos"/>
              </a:rPr>
              <a:t>Signal Matrix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9" y="4114800"/>
            <a:ext cx="3246120" cy="1417320"/>
          </a:xfrm>
          <a:prstGeom prst="roundRect">
            <a:avLst/>
          </a:prstGeom>
          <a:solidFill>
            <a:srgbClr val="132B20"/>
          </a:solidFill>
          <a:ln w="12700">
            <a:solidFill>
              <a:srgbClr val="C2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rankdesk-growth-des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599" y="4279392"/>
            <a:ext cx="1325880" cy="1325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217919" y="4553712"/>
            <a:ext cx="1188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F9F6"/>
                </a:solidFill>
                <a:latin typeface="Aptos"/>
              </a:rPr>
              <a:t>Alternate concept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19" y="49377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A8C4B5"/>
                </a:solidFill>
                <a:latin typeface="Aptos"/>
              </a:rPr>
              <a:t>Growth Desk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4114800"/>
            <a:ext cx="3246120" cy="1417320"/>
          </a:xfrm>
          <a:prstGeom prst="roundRect">
            <a:avLst/>
          </a:prstGeom>
          <a:solidFill>
            <a:srgbClr val="132B20"/>
          </a:solidFill>
          <a:ln w="12700">
            <a:solidFill>
              <a:srgbClr val="C2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rankdesk-fav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9640" y="4279392"/>
            <a:ext cx="1325880" cy="13258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966960" y="4553712"/>
            <a:ext cx="1188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F9F6"/>
                </a:solidFill>
                <a:latin typeface="Aptos"/>
              </a:rPr>
              <a:t>Icon/favicon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49377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A8C4B5"/>
                </a:solidFill>
                <a:latin typeface="Aptos"/>
              </a:rPr>
              <a:t>Favicon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6E4F"/>
                </a:solidFill>
                <a:latin typeface="Aptos"/>
              </a:rPr>
              <a:t>04 /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5486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C1A14"/>
                </a:solidFill>
                <a:latin typeface="Syne"/>
              </a:rPr>
              <a:t>Core UI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C1A14"/>
                </a:solidFill>
                <a:latin typeface="Aptos"/>
              </a:rPr>
              <a:t>Buttons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03120"/>
            <a:ext cx="1508760" cy="50292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25856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Primary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2103120"/>
            <a:ext cx="1600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2258568"/>
            <a:ext cx="914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1A14"/>
                </a:solidFill>
                <a:latin typeface="Aptos"/>
              </a:rPr>
              <a:t>Secondary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103120"/>
            <a:ext cx="1508760" cy="502920"/>
          </a:xfrm>
          <a:prstGeom prst="roundRect">
            <a:avLst/>
          </a:prstGeom>
          <a:solidFill>
            <a:srgbClr val="E86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2258568"/>
            <a:ext cx="1005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Opportunity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71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C1A14"/>
                </a:solidFill>
                <a:latin typeface="Aptos"/>
              </a:rPr>
              <a:t>KPI cards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429000"/>
            <a:ext cx="16916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" y="3639312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7A9688"/>
                </a:solidFill>
                <a:latin typeface="Aptos"/>
              </a:rPr>
              <a:t>Visibility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" y="3877056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C1A14"/>
                </a:solidFill>
                <a:latin typeface="Syne"/>
              </a:rPr>
              <a:t>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1368" y="3950208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B6E4F"/>
                </a:solidFill>
                <a:latin typeface="Courier New"/>
              </a:rPr>
              <a:t>+8.2%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88920" y="3429000"/>
            <a:ext cx="16916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35224" y="3639312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7A9688"/>
                </a:solidFill>
                <a:latin typeface="Aptos"/>
              </a:rPr>
              <a:t>Keywords 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35224" y="3877056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C1A14"/>
                </a:solidFill>
                <a:latin typeface="Syne"/>
              </a:rPr>
              <a:t>128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3048" y="3950208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B6E4F"/>
                </a:solidFill>
                <a:latin typeface="Courier New"/>
              </a:rPr>
              <a:t>+34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00600" y="3429000"/>
            <a:ext cx="16916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46904" y="3639312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7A9688"/>
                </a:solidFill>
                <a:latin typeface="Aptos"/>
              </a:rPr>
              <a:t>SEO Health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46904" y="3877056"/>
            <a:ext cx="731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C1A14"/>
                </a:solidFill>
                <a:latin typeface="Syne"/>
              </a:rPr>
              <a:t>91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24728" y="3950208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B6E4F"/>
                </a:solidFill>
                <a:latin typeface="Courier New"/>
              </a:rPr>
              <a:t>Good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1645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C1A14"/>
                </a:solidFill>
                <a:latin typeface="Aptos"/>
              </a:rPr>
              <a:t>Keyword table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20840" y="2057400"/>
            <a:ext cx="461772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03720" y="2194560"/>
            <a:ext cx="4206240" cy="384048"/>
          </a:xfrm>
          <a:prstGeom prst="rect">
            <a:avLst/>
          </a:prstGeom>
          <a:solidFill>
            <a:srgbClr val="F4F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2267712"/>
            <a:ext cx="1005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3D5449"/>
                </a:solidFill>
                <a:latin typeface="Aptos"/>
              </a:rPr>
              <a:t>keyword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2267712"/>
            <a:ext cx="1005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3D5449"/>
                </a:solidFill>
                <a:latin typeface="Courier New"/>
              </a:rPr>
              <a:t>rank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59" y="2267712"/>
            <a:ext cx="1005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3D5449"/>
                </a:solidFill>
                <a:latin typeface="Courier New"/>
              </a:rPr>
              <a:t>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04119" y="2267712"/>
            <a:ext cx="1005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3D5449"/>
                </a:solidFill>
                <a:latin typeface="Aptos"/>
              </a:rPr>
              <a:t>intent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2770632"/>
            <a:ext cx="1005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0C1A14"/>
                </a:solidFill>
                <a:latin typeface="Aptos"/>
              </a:rPr>
              <a:t>seo 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2770632"/>
            <a:ext cx="1005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0C1A14"/>
                </a:solidFill>
                <a:latin typeface="Courier New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59" y="2770632"/>
            <a:ext cx="1005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0C1A14"/>
                </a:solidFill>
                <a:latin typeface="Courier New"/>
              </a:rPr>
              <a:t>+2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04119" y="2770632"/>
            <a:ext cx="1005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0C1A14"/>
                </a:solidFill>
                <a:latin typeface="Aptos"/>
              </a:rPr>
              <a:t>Commercial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3273552"/>
            <a:ext cx="1005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0C1A14"/>
                </a:solidFill>
                <a:latin typeface="Aptos"/>
              </a:rPr>
              <a:t>keyword tracker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3273552"/>
            <a:ext cx="1005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0C1A14"/>
                </a:solidFill>
                <a:latin typeface="Courier New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59" y="3273552"/>
            <a:ext cx="1005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0C1A14"/>
                </a:solidFill>
                <a:latin typeface="Courier New"/>
              </a:rPr>
              <a:t>-3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04119" y="3273552"/>
            <a:ext cx="1005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0C1A14"/>
                </a:solidFill>
                <a:latin typeface="Aptos"/>
              </a:rPr>
              <a:t>Info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3776472"/>
            <a:ext cx="1005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0C1A14"/>
                </a:solidFill>
                <a:latin typeface="Aptos"/>
              </a:rPr>
              <a:t>seo report tool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3776472"/>
            <a:ext cx="1005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0C1A14"/>
                </a:solidFill>
                <a:latin typeface="Courier New"/>
              </a:rPr>
              <a:t>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59" y="3776472"/>
            <a:ext cx="1005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0C1A14"/>
                </a:solidFill>
                <a:latin typeface="Courier New"/>
              </a:rPr>
              <a:t>+5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04119" y="3776472"/>
            <a:ext cx="1005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0C1A14"/>
                </a:solidFill>
                <a:latin typeface="Aptos"/>
              </a:rPr>
              <a:t>Commercial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25780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D5449"/>
                </a:solidFill>
                <a:latin typeface="Aptos"/>
              </a:rPr>
              <a:t>Rules: 8px radius buttons, 12px cards, mono only for rank/delta/URL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ECFA0"/>
                </a:solidFill>
                <a:latin typeface="Aptos"/>
              </a:rPr>
              <a:t>05 / Product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4F9F6"/>
                </a:solidFill>
                <a:latin typeface="Syne"/>
              </a:rPr>
              <a:t>Command Center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10972800" cy="5074920"/>
          </a:xfrm>
          <a:prstGeom prst="roundRect">
            <a:avLst/>
          </a:prstGeom>
          <a:solidFill>
            <a:srgbClr val="0F2118"/>
          </a:solidFill>
          <a:ln w="12700">
            <a:solidFill>
              <a:srgbClr val="C2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1508760" cy="4617720"/>
          </a:xfrm>
          <a:prstGeom prst="roundRect">
            <a:avLst/>
          </a:prstGeom>
          <a:solidFill>
            <a:srgbClr val="0A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4ECFA0"/>
                </a:solidFill>
                <a:latin typeface="Syne"/>
              </a:rPr>
              <a:t>RankDesk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331720"/>
            <a:ext cx="1097280" cy="256032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2395728"/>
            <a:ext cx="8229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F4F9F6"/>
                </a:solidFill>
                <a:latin typeface="Aptos"/>
              </a:rPr>
              <a:t>Overview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770632"/>
            <a:ext cx="1097280" cy="256032"/>
          </a:xfrm>
          <a:prstGeom prst="roundRect">
            <a:avLst/>
          </a:prstGeom>
          <a:solidFill>
            <a:srgbClr val="0A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2834640"/>
            <a:ext cx="8229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A8C4B5"/>
                </a:solidFill>
                <a:latin typeface="Aptos"/>
              </a:rPr>
              <a:t>Keywords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3209544"/>
            <a:ext cx="1097280" cy="256032"/>
          </a:xfrm>
          <a:prstGeom prst="roundRect">
            <a:avLst/>
          </a:prstGeom>
          <a:solidFill>
            <a:srgbClr val="0A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3273552"/>
            <a:ext cx="8229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A8C4B5"/>
                </a:solidFill>
                <a:latin typeface="Aptos"/>
              </a:rPr>
              <a:t>Opportunities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3648456"/>
            <a:ext cx="1097280" cy="256032"/>
          </a:xfrm>
          <a:prstGeom prst="roundRect">
            <a:avLst/>
          </a:prstGeom>
          <a:solidFill>
            <a:srgbClr val="0A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" y="3712464"/>
            <a:ext cx="8229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A8C4B5"/>
                </a:solidFill>
                <a:latin typeface="Aptos"/>
              </a:rPr>
              <a:t>Reports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4087368"/>
            <a:ext cx="1097280" cy="256032"/>
          </a:xfrm>
          <a:prstGeom prst="roundRect">
            <a:avLst/>
          </a:prstGeom>
          <a:solidFill>
            <a:srgbClr val="0A1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0704" y="4151376"/>
            <a:ext cx="8229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A8C4B5"/>
                </a:solidFill>
                <a:latin typeface="Aptos"/>
              </a:rPr>
              <a:t>Settings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06040" y="1737360"/>
            <a:ext cx="1737360" cy="777240"/>
          </a:xfrm>
          <a:prstGeom prst="roundRect">
            <a:avLst/>
          </a:prstGeom>
          <a:solidFill>
            <a:srgbClr val="132B20"/>
          </a:solidFill>
          <a:ln w="12700">
            <a:solidFill>
              <a:srgbClr val="C2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52344" y="1901952"/>
            <a:ext cx="73152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A8C4B5"/>
                </a:solidFill>
                <a:latin typeface="Aptos"/>
              </a:rPr>
              <a:t>Visibility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52344" y="2084831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4F9F6"/>
                </a:solidFill>
                <a:latin typeface="Syne"/>
              </a:rPr>
              <a:t>74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1737360"/>
            <a:ext cx="1737360" cy="777240"/>
          </a:xfrm>
          <a:prstGeom prst="roundRect">
            <a:avLst/>
          </a:prstGeom>
          <a:solidFill>
            <a:srgbClr val="132B20"/>
          </a:solidFill>
          <a:ln w="12700">
            <a:solidFill>
              <a:srgbClr val="C2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9744" y="1901952"/>
            <a:ext cx="73152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A8C4B5"/>
                </a:solidFill>
                <a:latin typeface="Aptos"/>
              </a:rPr>
              <a:t>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9744" y="2084831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4F9F6"/>
                </a:solidFill>
                <a:latin typeface="Syne"/>
              </a:rPr>
              <a:t>128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0840" y="1737360"/>
            <a:ext cx="1737360" cy="777240"/>
          </a:xfrm>
          <a:prstGeom prst="roundRect">
            <a:avLst/>
          </a:prstGeom>
          <a:solidFill>
            <a:srgbClr val="132B20"/>
          </a:solidFill>
          <a:ln w="12700">
            <a:solidFill>
              <a:srgbClr val="C2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67144" y="1901952"/>
            <a:ext cx="73152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A8C4B5"/>
                </a:solidFill>
                <a:latin typeface="Aptos"/>
              </a:rPr>
              <a:t>Down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7144" y="2084831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4F9F6"/>
                </a:solidFill>
                <a:latin typeface="Syne"/>
              </a:rPr>
              <a:t>24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78240" y="1737360"/>
            <a:ext cx="1737360" cy="777240"/>
          </a:xfrm>
          <a:prstGeom prst="roundRect">
            <a:avLst/>
          </a:prstGeom>
          <a:solidFill>
            <a:srgbClr val="132B20"/>
          </a:solidFill>
          <a:ln w="12700">
            <a:solidFill>
              <a:srgbClr val="C2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24544" y="1901952"/>
            <a:ext cx="73152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A8C4B5"/>
                </a:solidFill>
                <a:latin typeface="Aptos"/>
              </a:rPr>
              <a:t>Health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24544" y="2084831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4F9F6"/>
                </a:solidFill>
                <a:latin typeface="Syne"/>
              </a:rPr>
              <a:t>91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06040" y="2788920"/>
            <a:ext cx="5074920" cy="2057400"/>
          </a:xfrm>
          <a:prstGeom prst="roundRect">
            <a:avLst/>
          </a:prstGeom>
          <a:solidFill>
            <a:srgbClr val="132B20"/>
          </a:solidFill>
          <a:ln w="12700">
            <a:solidFill>
              <a:srgbClr val="C2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34640" y="2999232"/>
            <a:ext cx="1828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A8C4B5"/>
                </a:solidFill>
                <a:latin typeface="Aptos"/>
              </a:rPr>
              <a:t>Visibility trend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2926080" y="3977639"/>
            <a:ext cx="640080" cy="320041"/>
          </a:xfrm>
          <a:prstGeom prst="line">
            <a:avLst/>
          </a:prstGeom>
          <a:ln w="38100">
            <a:solidFill>
              <a:srgbClr val="4EC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566160" y="3977639"/>
            <a:ext cx="640080" cy="137161"/>
          </a:xfrm>
          <a:prstGeom prst="line">
            <a:avLst/>
          </a:prstGeom>
          <a:ln w="38100">
            <a:solidFill>
              <a:srgbClr val="4EC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4206240" y="3611880"/>
            <a:ext cx="640080" cy="502920"/>
          </a:xfrm>
          <a:prstGeom prst="line">
            <a:avLst/>
          </a:prstGeom>
          <a:ln w="38100">
            <a:solidFill>
              <a:srgbClr val="4EC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846320" y="3611880"/>
            <a:ext cx="640080" cy="91440"/>
          </a:xfrm>
          <a:prstGeom prst="line">
            <a:avLst/>
          </a:prstGeom>
          <a:ln w="38100">
            <a:solidFill>
              <a:srgbClr val="4EC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486400" y="3154680"/>
            <a:ext cx="640080" cy="548640"/>
          </a:xfrm>
          <a:prstGeom prst="line">
            <a:avLst/>
          </a:prstGeom>
          <a:ln w="38100">
            <a:solidFill>
              <a:srgbClr val="4EC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6126480" y="2971800"/>
            <a:ext cx="777240" cy="182880"/>
          </a:xfrm>
          <a:prstGeom prst="line">
            <a:avLst/>
          </a:prstGeom>
          <a:ln w="38100">
            <a:solidFill>
              <a:srgbClr val="4EC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7955279" y="2788920"/>
            <a:ext cx="3154680" cy="2057400"/>
          </a:xfrm>
          <a:prstGeom prst="roundRect">
            <a:avLst/>
          </a:prstGeom>
          <a:solidFill>
            <a:srgbClr val="132B20"/>
          </a:solidFill>
          <a:ln w="12700">
            <a:solidFill>
              <a:srgbClr val="C2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83879" y="2999232"/>
            <a:ext cx="1828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A8C4B5"/>
                </a:solidFill>
                <a:latin typeface="Aptos"/>
              </a:rPr>
              <a:t>Top Opportunities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79" y="333756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00">
                <a:solidFill>
                  <a:srgbClr val="F4F9F6"/>
                </a:solidFill>
                <a:latin typeface="Aptos"/>
              </a:rPr>
              <a:t>Fix /seo-services title drop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F4F9F6"/>
                </a:solidFill>
                <a:latin typeface="Aptos"/>
              </a:rPr>
              <a:t>Add internal links to pricing page</a:t>
            </a:r>
          </a:p>
          <a:p>
            <a:pPr>
              <a:spcAft>
                <a:spcPts val="800"/>
              </a:spcAft>
            </a:pPr>
            <a:r>
              <a:rPr sz="1000">
                <a:solidFill>
                  <a:srgbClr val="F4F9F6"/>
                </a:solidFill>
                <a:latin typeface="Aptos"/>
              </a:rPr>
              <a:t>Refresh keyword tracker article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870448"/>
            <a:ext cx="8686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C2E3CF"/>
                </a:solidFill>
                <a:latin typeface="Aptos"/>
              </a:rPr>
              <a:t>UX rule: answer what changed, why it matters, and what to do next.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B6E4F"/>
                </a:solidFill>
                <a:latin typeface="Aptos"/>
              </a:rPr>
              <a:t>06 / Screen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6400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C1A14"/>
                </a:solidFill>
                <a:latin typeface="Syne"/>
              </a:rPr>
              <a:t>Product Page Blueprints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49834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938528"/>
            <a:ext cx="2377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B6E4F"/>
                </a:solidFill>
                <a:latin typeface="Syne"/>
              </a:rPr>
              <a:t>Keyword Rankings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331720"/>
            <a:ext cx="4297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D5449"/>
                </a:solidFill>
                <a:latin typeface="Aptos"/>
              </a:rPr>
              <a:t>Light table-heavy page: filters, summary strip, rank/delta mono cells, selected row state.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737360"/>
            <a:ext cx="49834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938528"/>
            <a:ext cx="2377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B6E4F"/>
                </a:solidFill>
                <a:latin typeface="Syne"/>
              </a:rPr>
              <a:t>Opportunities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2331720"/>
            <a:ext cx="4297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D5449"/>
                </a:solidFill>
                <a:latin typeface="Aptos"/>
              </a:rPr>
              <a:t>Impact vs effort queue. Ember only marks valuable urgency, not decoration.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49834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767328"/>
            <a:ext cx="2377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B6E4F"/>
                </a:solidFill>
                <a:latin typeface="Syne"/>
              </a:rPr>
              <a:t>SEO Health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160520"/>
            <a:ext cx="4297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D5449"/>
                </a:solidFill>
                <a:latin typeface="Aptos"/>
              </a:rPr>
              <a:t>Health score ring, severity groups, affected pages, and plain-English “fix first” guidance.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566160"/>
            <a:ext cx="49834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767328"/>
            <a:ext cx="2377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B6E4F"/>
                </a:solidFill>
                <a:latin typeface="Syne"/>
              </a:rPr>
              <a:t>Reports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4160520"/>
            <a:ext cx="4297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3D5449"/>
                </a:solidFill>
                <a:latin typeface="Aptos"/>
              </a:rPr>
              <a:t>Founder/client-ready summary: wins, drops, completed actions, next actions, export/share.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ECFA0"/>
                </a:solidFill>
                <a:latin typeface="Aptos"/>
              </a:rPr>
              <a:t>07 / Canva Build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6400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4F9F6"/>
                </a:solidFill>
                <a:latin typeface="Syne"/>
              </a:rPr>
              <a:t>Manual setup inside Canva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65836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F4F9F6"/>
                </a:solidFill>
                <a:latin typeface="Aptos"/>
              </a:rPr>
              <a:t>Upload SVG logo assets from assets/svg/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4F9F6"/>
                </a:solidFill>
                <a:latin typeface="Aptos"/>
              </a:rPr>
              <a:t>Create Brand Kit colors from rankdesk-canva-token-reference.json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4F9F6"/>
                </a:solidFill>
                <a:latin typeface="Aptos"/>
              </a:rPr>
              <a:t>Use Syne for headings, Onest/Aptos for UI/body, JetBrains Mono for ranks/URLs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4F9F6"/>
                </a:solidFill>
                <a:latin typeface="Aptos"/>
              </a:rPr>
              <a:t>Create pages: Cover, Logo, Foundations, Components, Product Screens, Handoff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4F9F6"/>
                </a:solidFill>
                <a:latin typeface="Aptos"/>
              </a:rPr>
              <a:t>Keep Rank Beacon as the recommended primary identity route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F4F9F6"/>
                </a:solidFill>
                <a:latin typeface="Aptos"/>
              </a:rPr>
              <a:t>Use this imported deck as editable starting point + visual reference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737360"/>
            <a:ext cx="3108960" cy="3063240"/>
          </a:xfrm>
          <a:prstGeom prst="roundRect">
            <a:avLst/>
          </a:prstGeom>
          <a:solidFill>
            <a:srgbClr val="132B20"/>
          </a:solidFill>
          <a:ln w="12700">
            <a:solidFill>
              <a:srgbClr val="C2E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66760" y="205740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ECFA0"/>
                </a:solidFill>
                <a:latin typeface="Syne"/>
              </a:rPr>
              <a:t>Next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2560320"/>
            <a:ext cx="2331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F4F9F6"/>
                </a:solidFill>
                <a:latin typeface="Syne"/>
              </a:rPr>
              <a:t>Approve Rank Beacon, then Kiptoo can map this system into RankDesk code tokens later.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