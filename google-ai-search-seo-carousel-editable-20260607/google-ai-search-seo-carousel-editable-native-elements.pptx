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FFBF3"/>
          </a:solidFill>
          <a:ln w="12700">
            <a:solidFill>
              <a:srgbClr val="FFF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-731520"/>
            <a:ext cx="2743200" cy="2743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7406640"/>
            <a:ext cx="3108960" cy="310896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0" y="7315200"/>
            <a:ext cx="2468880" cy="246888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393192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4572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ourier New"/>
              </a:defRPr>
            </a:pPr>
            <a:r>
              <a:t>NURU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40080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2606D"/>
                </a:solidFill>
                <a:latin typeface="Aptos"/>
              </a:defRPr>
            </a:pPr>
            <a:r>
              <a:t>Kelvin Wambugu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457200"/>
            <a:ext cx="11430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548640"/>
            <a:ext cx="74980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ourier New"/>
              </a:defRPr>
            </a:pPr>
            <a:r>
              <a:t>01 /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508760"/>
            <a:ext cx="6217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400" b="1">
                <a:solidFill>
                  <a:srgbClr val="111827"/>
                </a:solidFill>
                <a:latin typeface="Aptos"/>
              </a:defRPr>
            </a:pPr>
            <a:r>
              <a:t>What Google actually said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048256"/>
            <a:ext cx="6217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400" b="1">
                <a:solidFill>
                  <a:srgbClr val="2563EB"/>
                </a:solidFill>
                <a:latin typeface="Aptos"/>
              </a:defRPr>
            </a:pPr>
            <a:r>
              <a:t>about AI Search SEO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834640"/>
            <a:ext cx="5943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52606D"/>
                </a:solidFill>
                <a:latin typeface="Aptos"/>
              </a:defRPr>
            </a:pPr>
            <a:r>
              <a:t>Not the hype. Not the panic. The practical version for business owners.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3977639"/>
            <a:ext cx="63550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4343400"/>
            <a:ext cx="57150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480560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AI Search SEO</a:t>
            </a:r>
          </a:p>
        </p:txBody>
      </p:sp>
      <p:sp>
        <p:nvSpPr>
          <p:cNvPr id="18" name="Oval 17"/>
          <p:cNvSpPr/>
          <p:nvPr/>
        </p:nvSpPr>
        <p:spPr>
          <a:xfrm>
            <a:off x="6016752" y="4443984"/>
            <a:ext cx="182880" cy="1828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425696"/>
            <a:ext cx="320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Aptos"/>
              </a:defRPr>
            </a:pPr>
            <a:r>
              <a:t>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5166360"/>
            <a:ext cx="57150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2180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D4ED8"/>
                </a:solidFill>
                <a:latin typeface="Aptos"/>
              </a:defRPr>
            </a:pPr>
            <a:r>
              <a:t>AI Overview: helpful content still needs crawlable pages, structure and clear answers.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5989320"/>
            <a:ext cx="57150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6071616"/>
            <a:ext cx="347472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ptos"/>
              </a:defRPr>
            </a:pPr>
            <a:r>
              <a:t>Crawling &amp; indexing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" y="6400800"/>
            <a:ext cx="57150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6483096"/>
            <a:ext cx="347472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ptos"/>
              </a:defRPr>
            </a:pPr>
            <a:r>
              <a:t>Helpful content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6812280"/>
            <a:ext cx="57150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6894576"/>
            <a:ext cx="347472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ptos"/>
              </a:defRPr>
            </a:pPr>
            <a:r>
              <a:t>Structured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7223760"/>
            <a:ext cx="57150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7306056"/>
            <a:ext cx="347472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ptos"/>
              </a:defRPr>
            </a:pPr>
            <a:r>
              <a:t>Clear buyer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8522208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2606D"/>
                </a:solidFill>
                <a:latin typeface="Aptos"/>
              </a:defRPr>
            </a:pPr>
            <a:r>
              <a:t>Save this  •  Share with a founder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49240" y="8604504"/>
            <a:ext cx="100584" cy="457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13831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78424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43016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07607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2200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36792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01383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-731520"/>
            <a:ext cx="2743200" cy="2743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7406640"/>
            <a:ext cx="3108960" cy="310896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0" y="7315200"/>
            <a:ext cx="2468880" cy="246888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393192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4572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t>NURU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40080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DDEBFF"/>
                </a:solidFill>
                <a:latin typeface="Aptos"/>
              </a:defRPr>
            </a:pPr>
            <a:r>
              <a:t>Kelvin Wambugu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457200"/>
            <a:ext cx="1143000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548640"/>
            <a:ext cx="74980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Courier New"/>
              </a:defRPr>
            </a:pPr>
            <a:r>
              <a:t>02 /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60020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6B6D4"/>
                </a:solidFill>
                <a:latin typeface="Aptos"/>
              </a:defRPr>
            </a:pPr>
            <a:r>
              <a:t>The short version: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240280"/>
            <a:ext cx="630936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AI Search does not replace SEO basics. It raises the standard.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5074920"/>
            <a:ext cx="6355080" cy="196596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504688"/>
            <a:ext cx="5623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900" b="1">
                <a:solidFill>
                  <a:srgbClr val="DDEBFF"/>
                </a:solidFill>
                <a:latin typeface="Aptos"/>
              </a:defRPr>
            </a:pPr>
            <a:r>
              <a:t>If your website is vague, thin, slow, unstructured or hard to trust, AI-powered search makes that problem more visible — not less.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8522208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DDEBFF"/>
                </a:solidFill>
                <a:latin typeface="Aptos"/>
              </a:defRPr>
            </a:pPr>
            <a:r>
              <a:t>Save this  •  Share with a founder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13831" y="8604504"/>
            <a:ext cx="100584" cy="457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78424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43016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07607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36792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1383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FFBF3"/>
          </a:solidFill>
          <a:ln w="12700">
            <a:solidFill>
              <a:srgbClr val="FFF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-731520"/>
            <a:ext cx="2743200" cy="2743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7406640"/>
            <a:ext cx="3108960" cy="310896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0" y="7315200"/>
            <a:ext cx="2468880" cy="246888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393192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4572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ourier New"/>
              </a:defRPr>
            </a:pPr>
            <a:r>
              <a:t>NURU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40080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2606D"/>
                </a:solidFill>
                <a:latin typeface="Aptos"/>
              </a:defRPr>
            </a:pPr>
            <a:r>
              <a:t>Kelvin Wambugu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457200"/>
            <a:ext cx="11430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548640"/>
            <a:ext cx="74980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ourier New"/>
              </a:defRPr>
            </a:pPr>
            <a:r>
              <a:t>03 /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55448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Aptos"/>
              </a:defRPr>
            </a:pPr>
            <a:r>
              <a:t>Google still talks about fundamentals: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880360"/>
            <a:ext cx="63550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136391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3099815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Aptos"/>
              </a:defRPr>
            </a:pPr>
            <a:r>
              <a:t>Can Google crawl and index your pages?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4297680"/>
            <a:ext cx="63550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553712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4517136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Aptos"/>
              </a:defRPr>
            </a:pPr>
            <a:r>
              <a:t>Does your content answer real questions?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5715000"/>
            <a:ext cx="63550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971032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5934456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11827"/>
                </a:solidFill>
                <a:latin typeface="Aptos"/>
              </a:defRPr>
            </a:pPr>
            <a:r>
              <a:t>Is your site useful, structured and trustworthy?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8522208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2606D"/>
                </a:solidFill>
                <a:latin typeface="Aptos"/>
              </a:defRPr>
            </a:pPr>
            <a:r>
              <a:t>Save this  •  Share with a founder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13831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78424" y="8604504"/>
            <a:ext cx="100584" cy="457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843016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07607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36792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01383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-731520"/>
            <a:ext cx="2743200" cy="2743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7406640"/>
            <a:ext cx="3108960" cy="310896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0" y="7315200"/>
            <a:ext cx="2468880" cy="246888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393192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4572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t>NURU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40080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DDEBFF"/>
                </a:solidFill>
                <a:latin typeface="Aptos"/>
              </a:defRPr>
            </a:pPr>
            <a:r>
              <a:t>Kelvin Wambugu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457200"/>
            <a:ext cx="1143000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548640"/>
            <a:ext cx="74980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Courier New"/>
              </a:defRPr>
            </a:pPr>
            <a:r>
              <a:t>04 /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572768"/>
            <a:ext cx="6217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What changed?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24028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400" b="1">
                <a:solidFill>
                  <a:srgbClr val="DDEBFF"/>
                </a:solidFill>
                <a:latin typeface="Aptos"/>
              </a:defRPr>
            </a:pPr>
            <a:r>
              <a:t>The search journey is becoming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724912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400" b="1">
                <a:solidFill>
                  <a:srgbClr val="06B6D4"/>
                </a:solidFill>
                <a:latin typeface="Aptos"/>
              </a:defRPr>
            </a:pPr>
            <a:r>
              <a:t>more conversational.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3886200"/>
            <a:ext cx="6355080" cy="8686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14800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ourier New"/>
              </a:defRPr>
            </a:pPr>
            <a:r>
              <a:t>Old SEO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1148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One keyword → one page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5029200"/>
            <a:ext cx="6355080" cy="8686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257800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ourier New"/>
              </a:defRPr>
            </a:pPr>
            <a:r>
              <a:t>AI-era SEO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2578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Question → context → comparison → decision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6172200"/>
            <a:ext cx="6355080" cy="8686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6400800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ourier New"/>
              </a:defRPr>
            </a:pPr>
            <a:r>
              <a:t>Your job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64008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Make the answer easy to understand and 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8522208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DDEBFF"/>
                </a:solidFill>
                <a:latin typeface="Aptos"/>
              </a:defRPr>
            </a:pPr>
            <a:r>
              <a:t>Save this  •  Share with a founder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49240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13831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78424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43016" y="8604504"/>
            <a:ext cx="100584" cy="457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07607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72200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36792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01383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FFBF3"/>
          </a:solidFill>
          <a:ln w="12700">
            <a:solidFill>
              <a:srgbClr val="FFF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-731520"/>
            <a:ext cx="2743200" cy="2743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7406640"/>
            <a:ext cx="3108960" cy="310896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0" y="7315200"/>
            <a:ext cx="2468880" cy="246888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393192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4572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ourier New"/>
              </a:defRPr>
            </a:pPr>
            <a:r>
              <a:t>NURU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40080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2606D"/>
                </a:solidFill>
                <a:latin typeface="Aptos"/>
              </a:defRPr>
            </a:pPr>
            <a:r>
              <a:t>Kelvin Wambugu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457200"/>
            <a:ext cx="11430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548640"/>
            <a:ext cx="74980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ourier New"/>
              </a:defRPr>
            </a:pPr>
            <a:r>
              <a:t>05 /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508760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100" b="1">
                <a:solidFill>
                  <a:srgbClr val="111827"/>
                </a:solidFill>
                <a:latin typeface="Aptos"/>
              </a:defRPr>
            </a:pPr>
            <a:r>
              <a:t>So no, you do not need to chase every “GEO hack”.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24612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Aptos"/>
              </a:defRPr>
            </a:pPr>
            <a:r>
              <a:t>You need better inputs: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425196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453128"/>
            <a:ext cx="2286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4480560"/>
            <a:ext cx="1965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ptos"/>
              </a:defRPr>
            </a:pPr>
            <a:r>
              <a:t>Clear service pages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21608" y="425196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0208" y="4453128"/>
            <a:ext cx="2286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4480560"/>
            <a:ext cx="1965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ptos"/>
              </a:defRPr>
            </a:pPr>
            <a:r>
              <a:t>Helpful FAQs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521208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413248"/>
            <a:ext cx="2286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5440680"/>
            <a:ext cx="1965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ptos"/>
              </a:defRPr>
            </a:pPr>
            <a:r>
              <a:t>Proof and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521208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0208" y="5413248"/>
            <a:ext cx="2286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8536" y="5440680"/>
            <a:ext cx="1965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ptos"/>
              </a:defRPr>
            </a:pPr>
            <a:r>
              <a:t>Internal links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617220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6373368"/>
            <a:ext cx="2286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" y="6400800"/>
            <a:ext cx="1965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ptos"/>
              </a:defRPr>
            </a:pPr>
            <a:r>
              <a:t>Schema where it helps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21608" y="617220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0208" y="6373368"/>
            <a:ext cx="2286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8536" y="6400800"/>
            <a:ext cx="1965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ptos"/>
              </a:defRPr>
            </a:pPr>
            <a:r>
              <a:t>Fast mobile 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8522208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2606D"/>
                </a:solidFill>
                <a:latin typeface="Aptos"/>
              </a:defRPr>
            </a:pPr>
            <a:r>
              <a:t>Save this  •  Share with a founder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49240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513831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78424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43016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007607" y="8604504"/>
            <a:ext cx="100584" cy="457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72200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36792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01383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-731520"/>
            <a:ext cx="2743200" cy="2743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7406640"/>
            <a:ext cx="3108960" cy="310896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0" y="7315200"/>
            <a:ext cx="2468880" cy="246888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393192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4572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t>NURU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40080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DDEBFF"/>
                </a:solidFill>
                <a:latin typeface="Aptos"/>
              </a:defRPr>
            </a:pPr>
            <a:r>
              <a:t>Kelvin Wambugu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457200"/>
            <a:ext cx="1143000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548640"/>
            <a:ext cx="74980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Courier New"/>
              </a:defRPr>
            </a:pPr>
            <a:r>
              <a:t>06 /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554480"/>
            <a:ext cx="6217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For Dubai SMEs, the practical checklist is simple: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834640"/>
            <a:ext cx="6355080" cy="9601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4096"/>
            <a:ext cx="5843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Aptos"/>
              </a:defRPr>
            </a:pPr>
            <a:r>
              <a:t>Website clarity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56432"/>
            <a:ext cx="58430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DDEBFF"/>
                </a:solidFill>
                <a:latin typeface="Aptos"/>
              </a:defRPr>
            </a:pPr>
            <a:r>
              <a:t>Can buyers understand what you do in 5 seconds?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4005072"/>
            <a:ext cx="6355080" cy="9601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24528"/>
            <a:ext cx="5843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Aptos"/>
              </a:defRPr>
            </a:pPr>
            <a:r>
              <a:t>Search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26864"/>
            <a:ext cx="58430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DDEBFF"/>
                </a:solidFill>
                <a:latin typeface="Aptos"/>
              </a:defRPr>
            </a:pPr>
            <a:r>
              <a:t>Do pages match what people are actually searching?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5175504"/>
            <a:ext cx="6355080" cy="9601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843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Aptos"/>
              </a:defRPr>
            </a:pPr>
            <a:r>
              <a:t>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97296"/>
            <a:ext cx="58430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DDEBFF"/>
                </a:solidFill>
                <a:latin typeface="Aptos"/>
              </a:defRPr>
            </a:pPr>
            <a:r>
              <a:t>Do you show proof, reviews, work, location and process?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6345936"/>
            <a:ext cx="6355080" cy="9601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565392"/>
            <a:ext cx="5843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Aptos"/>
              </a:defRPr>
            </a:pPr>
            <a:r>
              <a:t>Contact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967728"/>
            <a:ext cx="58430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DDEBFF"/>
                </a:solidFill>
                <a:latin typeface="Aptos"/>
              </a:defRPr>
            </a:pPr>
            <a:r>
              <a:t>Can mobile visitors enquire without friction?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8522208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DDEBFF"/>
                </a:solidFill>
                <a:latin typeface="Aptos"/>
              </a:defRPr>
            </a:pPr>
            <a:r>
              <a:t>Save this  •  Share with a founder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13831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78424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843016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07607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72200" y="8604504"/>
            <a:ext cx="100584" cy="457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36792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01383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FFBF3"/>
          </a:solidFill>
          <a:ln w="12700">
            <a:solidFill>
              <a:srgbClr val="FFF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-731520"/>
            <a:ext cx="2743200" cy="2743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7406640"/>
            <a:ext cx="3108960" cy="310896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0" y="7315200"/>
            <a:ext cx="2468880" cy="246888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393192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4572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ourier New"/>
              </a:defRPr>
            </a:pPr>
            <a:r>
              <a:t>NURU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40080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2606D"/>
                </a:solidFill>
                <a:latin typeface="Aptos"/>
              </a:defRPr>
            </a:pPr>
            <a:r>
              <a:t>Kelvin Wambugu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457200"/>
            <a:ext cx="11430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548640"/>
            <a:ext cx="74980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ourier New"/>
              </a:defRPr>
            </a:pPr>
            <a:r>
              <a:t>07 /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572768"/>
            <a:ext cx="6217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Aptos"/>
              </a:defRPr>
            </a:pPr>
            <a:r>
              <a:t>The business takeaway: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423160"/>
            <a:ext cx="63093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300" b="1">
                <a:solidFill>
                  <a:srgbClr val="111827"/>
                </a:solidFill>
                <a:latin typeface="Aptos"/>
              </a:defRPr>
            </a:pPr>
            <a:r>
              <a:t>AI Search rewards websites that are specific, useful and easy to trust.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5394960"/>
            <a:ext cx="63550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806440"/>
            <a:ext cx="5623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900" b="1">
                <a:solidFill>
                  <a:srgbClr val="52606D"/>
                </a:solidFill>
                <a:latin typeface="Aptos"/>
              </a:defRPr>
            </a:pPr>
            <a:r>
              <a:t>Do not panic about AI Search. Audit your website like a buyer, then fix the pages that create trust and enquiries.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8522208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52606D"/>
                </a:solidFill>
                <a:latin typeface="Aptos"/>
              </a:defRPr>
            </a:pPr>
            <a:r>
              <a:t>Save this  •  Share with a founder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13831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78424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43016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07607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36792" y="8604504"/>
            <a:ext cx="100584" cy="457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1383" y="8604504"/>
            <a:ext cx="100584" cy="45720"/>
          </a:xfrm>
          <a:prstGeom prst="roundRect">
            <a:avLst/>
          </a:prstGeom>
          <a:solidFill>
            <a:srgbClr val="D7E3F5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-731520"/>
            <a:ext cx="2743200" cy="27432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7406640"/>
            <a:ext cx="3108960" cy="310896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0" y="7315200"/>
            <a:ext cx="2468880" cy="246888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393192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457200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t>NURU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40080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DDEBFF"/>
                </a:solidFill>
                <a:latin typeface="Aptos"/>
              </a:defRPr>
            </a:pPr>
            <a:r>
              <a:t>Kelvin Wambugu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457200"/>
            <a:ext cx="1143000" cy="347472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D7E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548640"/>
            <a:ext cx="74980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Courier New"/>
              </a:defRPr>
            </a:pPr>
            <a:r>
              <a:t>08 /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645920"/>
            <a:ext cx="6217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Want a simple audit?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423160"/>
            <a:ext cx="6126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>
                <a:solidFill>
                  <a:srgbClr val="06B6D4"/>
                </a:solidFill>
                <a:latin typeface="Aptos"/>
              </a:defRPr>
            </a:pPr>
            <a:r>
              <a:t>Start with one page: your highest-value service 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3977639"/>
            <a:ext cx="6355080" cy="214884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526280"/>
            <a:ext cx="5623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DDEBFF"/>
                </a:solidFill>
                <a:latin typeface="Aptos"/>
              </a:defRPr>
            </a:pPr>
            <a:r>
              <a:t>Ask: Is this page clear, useful, trustworthy, locally relevant and easy to act on?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440680"/>
            <a:ext cx="3017520" cy="45720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577840"/>
            <a:ext cx="25146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Comment “AUDIT”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7040880"/>
            <a:ext cx="6126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I’ll share the checklist I use to review SME websites.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8522208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DDEBFF"/>
                </a:solidFill>
                <a:latin typeface="Aptos"/>
              </a:defRPr>
            </a:pPr>
            <a:r>
              <a:t>Save this  •  Share with a founder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13831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78424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43016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07607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36792" y="8604504"/>
            <a:ext cx="100584" cy="457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01383" y="8604504"/>
            <a:ext cx="100584" cy="457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